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Lato" panose="020F0502020204030203" pitchFamily="34" charset="77"/>
      <p:regular r:id="rId28"/>
      <p:bold r:id="rId29"/>
      <p:italic r:id="rId30"/>
      <p:boldItalic r:id="rId31"/>
    </p:embeddedFont>
    <p:embeddedFont>
      <p:font typeface="Montserrat" pitchFamily="2" charset="77"/>
      <p:regular r:id="rId32"/>
      <p:bold r:id="rId33"/>
      <p:italic r:id="rId34"/>
      <p:boldItalic r:id="rId35"/>
    </p:embeddedFont>
    <p:embeddedFont>
      <p:font typeface="Roboto Mono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4"/>
    <p:restoredTop sz="86351"/>
  </p:normalViewPr>
  <p:slideViewPr>
    <p:cSldViewPr snapToGrid="0">
      <p:cViewPr>
        <p:scale>
          <a:sx n="105" d="100"/>
          <a:sy n="105" d="100"/>
        </p:scale>
        <p:origin x="752" y="8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52d0b8ceb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52d0b8ceb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is the basic model of a client talking to cloud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*CLICK*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 need to protect our Data, from various adversaries that are trying to snoop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*NEXT SLIDE*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652d0b8ceb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652d0b8ceb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*CLICK*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We’ve got someone SNOOPING ON us!!.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*CLICK*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Therefore we’ve got to encrypt the communication channel with the server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*NEXT SLIDE*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652d0b8ceb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652d0b8ceb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explanation of Symmetric &amp; Asymmetric is that…*EXPLAIN*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*NEXT SLIDE*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52d0b8ceb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52d0b8ceb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*CLICK*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TLS provides secure transfer of data between client and cloud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Our communication channel is now secure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*CLICK*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 this has not completely solved our problem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Since the attackers &amp; organisations will employ other methods... *NEXT SLIDE*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52d0b8ce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652d0b8ce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52d0b8ceb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52d0b8ceb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*CLICK*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The adversaries have now the access to the cloud service as well.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The solution for now is to encrypt the file itself, and send the encrypted file to cloud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*NEXT SLIDE*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52d0b8ceb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652d0b8ceb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Cloud Does NOT have access to our data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52d0b8ceb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652d0b8ceb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52d0b8ce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52d0b8ce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Here’s where Homomorphic Encryption comes in, but what exactly does Homomorphism mean?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52d0b8ceb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52d0b8ceb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52d0b8ceb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52d0b8ceb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652d0b8ce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652d0b8ceb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652d0b8ceb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652d0b8ceb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52d0b8ceb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652d0b8ceb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52d0b8ce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652d0b8ce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652d0b8ceb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652d0b8ceb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52d0b8ce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652d0b8ce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831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52d0b8ce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652d0b8ce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507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52d0b8ce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652d0b8ce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044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52d0b8ce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652d0b8ce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03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commons.wikimedia.org/wiki/File:Antu_emblem-locked.sv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253800"/>
            <a:ext cx="5017500" cy="19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MLaaS</a:t>
            </a:r>
            <a:r>
              <a:rPr lang="en-GB" dirty="0"/>
              <a:t> using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Homomorphic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Encryption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Dost Arora - 1RV16IS015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Jibran</a:t>
            </a:r>
            <a:r>
              <a:rPr lang="en-GB" dirty="0"/>
              <a:t> Mukhtar – 1RV16IS018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17550"/>
            <a:ext cx="7038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Basic Communication</a:t>
            </a:r>
            <a:endParaRPr dirty="0"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1" y="3667146"/>
            <a:ext cx="1795675" cy="10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14"/>
          <p:cNvCxnSpPr/>
          <p:nvPr/>
        </p:nvCxnSpPr>
        <p:spPr>
          <a:xfrm rot="10800000" flipH="1">
            <a:off x="2121900" y="1829850"/>
            <a:ext cx="3363000" cy="148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43;p14"/>
          <p:cNvCxnSpPr/>
          <p:nvPr/>
        </p:nvCxnSpPr>
        <p:spPr>
          <a:xfrm flipH="1">
            <a:off x="2484675" y="2132075"/>
            <a:ext cx="3303600" cy="143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44" name="Google Shape;1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50" y="1171500"/>
            <a:ext cx="2984600" cy="12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5484900" y="3308734"/>
            <a:ext cx="3303600" cy="102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sz="18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But, we need to protect our Data, that we are transferring</a:t>
            </a:r>
            <a:endParaRPr sz="18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A87C49-6667-4AA9-848C-D86E1B7A48E9}"/>
              </a:ext>
            </a:extLst>
          </p:cNvPr>
          <p:cNvSpPr txBox="1"/>
          <p:nvPr/>
        </p:nvSpPr>
        <p:spPr>
          <a:xfrm rot="20120362">
            <a:off x="3322875" y="2358391"/>
            <a:ext cx="2018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Transfer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1297500" y="317550"/>
            <a:ext cx="7038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 Model 1</a:t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1" y="3667146"/>
            <a:ext cx="1795675" cy="10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15"/>
          <p:cNvCxnSpPr/>
          <p:nvPr/>
        </p:nvCxnSpPr>
        <p:spPr>
          <a:xfrm rot="10800000" flipH="1">
            <a:off x="2121900" y="1829850"/>
            <a:ext cx="3363000" cy="148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15"/>
          <p:cNvCxnSpPr/>
          <p:nvPr/>
        </p:nvCxnSpPr>
        <p:spPr>
          <a:xfrm flipH="1">
            <a:off x="2484675" y="2132075"/>
            <a:ext cx="3303600" cy="143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4" name="Google Shape;15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50" y="1171500"/>
            <a:ext cx="2984600" cy="12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2650" y="2420160"/>
            <a:ext cx="820475" cy="7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2795" y="2230803"/>
            <a:ext cx="770789" cy="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45;p14">
            <a:extLst>
              <a:ext uri="{FF2B5EF4-FFF2-40B4-BE49-F238E27FC236}">
                <a16:creationId xmlns:a16="http://schemas.microsoft.com/office/drawing/2014/main" id="{972C3432-E12A-4A78-B4CF-AB31DE578B77}"/>
              </a:ext>
            </a:extLst>
          </p:cNvPr>
          <p:cNvSpPr txBox="1"/>
          <p:nvPr/>
        </p:nvSpPr>
        <p:spPr>
          <a:xfrm>
            <a:off x="5484900" y="3323974"/>
            <a:ext cx="3303600" cy="78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sz="18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Solution : Encrypt the channel</a:t>
            </a:r>
            <a:endParaRPr sz="18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94F81-C77E-44C9-B1C1-17C717A14A4F}"/>
              </a:ext>
            </a:extLst>
          </p:cNvPr>
          <p:cNvSpPr txBox="1"/>
          <p:nvPr/>
        </p:nvSpPr>
        <p:spPr>
          <a:xfrm rot="20120362">
            <a:off x="3322875" y="2358391"/>
            <a:ext cx="2018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Transfer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: Encryption</a:t>
            </a:r>
            <a:endParaRPr/>
          </a:p>
        </p:txBody>
      </p:sp>
      <p:pic>
        <p:nvPicPr>
          <p:cNvPr id="163" name="Google Shape;1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00" y="1705650"/>
            <a:ext cx="4082425" cy="28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6375" y="1705650"/>
            <a:ext cx="4338575" cy="28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1297500" y="317550"/>
            <a:ext cx="7038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TLS</a:t>
            </a:r>
            <a:endParaRPr dirty="0"/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62" y="3846603"/>
            <a:ext cx="1795675" cy="10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7"/>
          <p:cNvCxnSpPr/>
          <p:nvPr/>
        </p:nvCxnSpPr>
        <p:spPr>
          <a:xfrm rot="10800000" flipH="1">
            <a:off x="2121900" y="1829850"/>
            <a:ext cx="3363000" cy="148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7"/>
          <p:cNvCxnSpPr/>
          <p:nvPr/>
        </p:nvCxnSpPr>
        <p:spPr>
          <a:xfrm flipH="1">
            <a:off x="2484675" y="2132075"/>
            <a:ext cx="3303600" cy="143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73" name="Google Shape;1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50" y="1171500"/>
            <a:ext cx="2984600" cy="12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00" y="3037775"/>
            <a:ext cx="528600" cy="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613" y="3037775"/>
            <a:ext cx="528600" cy="5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4816950" y="3679622"/>
            <a:ext cx="3521400" cy="40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sz="18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One small problem ...</a:t>
            </a:r>
            <a:endParaRPr sz="18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A3D13E61-E472-4108-8B9C-1FEEC7181875}"/>
              </a:ext>
            </a:extLst>
          </p:cNvPr>
          <p:cNvSpPr txBox="1">
            <a:spLocks/>
          </p:cNvSpPr>
          <p:nvPr/>
        </p:nvSpPr>
        <p:spPr>
          <a:xfrm>
            <a:off x="1300432" y="320489"/>
            <a:ext cx="70389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GB" dirty="0"/>
              <a:t>Transport Layer 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2D0DA7-65F4-439F-AFE3-C033C27D4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636052" y="2251296"/>
            <a:ext cx="786479" cy="786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69136E-6 L 0.79462 -0.0913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22" y="-45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8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177" grpId="0"/>
      <p:bldP spid="177" grpId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So now what ...</a:t>
            </a:r>
            <a:endParaRPr dirty="0"/>
          </a:p>
        </p:txBody>
      </p:sp>
      <p:pic>
        <p:nvPicPr>
          <p:cNvPr id="183" name="Google Shape;1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5450"/>
            <a:ext cx="2750075" cy="188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7552" y="1250263"/>
            <a:ext cx="1477324" cy="132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7549" y="2910386"/>
            <a:ext cx="1568600" cy="149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8355" y="2116875"/>
            <a:ext cx="1267350" cy="1267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18"/>
          <p:cNvCxnSpPr/>
          <p:nvPr/>
        </p:nvCxnSpPr>
        <p:spPr>
          <a:xfrm>
            <a:off x="3267750" y="3360250"/>
            <a:ext cx="33369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8"/>
          <p:cNvCxnSpPr/>
          <p:nvPr/>
        </p:nvCxnSpPr>
        <p:spPr>
          <a:xfrm flipH="1">
            <a:off x="3248075" y="2128775"/>
            <a:ext cx="3405900" cy="1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1297500" y="317550"/>
            <a:ext cx="7038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 Model 2</a:t>
            </a:r>
            <a:endParaRPr/>
          </a:p>
        </p:txBody>
      </p:sp>
      <p:pic>
        <p:nvPicPr>
          <p:cNvPr id="194" name="Google Shape;1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1" y="3667146"/>
            <a:ext cx="1795675" cy="10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19"/>
          <p:cNvCxnSpPr/>
          <p:nvPr/>
        </p:nvCxnSpPr>
        <p:spPr>
          <a:xfrm rot="10800000" flipH="1">
            <a:off x="2121900" y="1829850"/>
            <a:ext cx="3363000" cy="148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9"/>
          <p:cNvCxnSpPr/>
          <p:nvPr/>
        </p:nvCxnSpPr>
        <p:spPr>
          <a:xfrm flipH="1">
            <a:off x="2484675" y="2132075"/>
            <a:ext cx="3303600" cy="143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7" name="Google Shape;1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50" y="1171500"/>
            <a:ext cx="2984600" cy="12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00" y="3037775"/>
            <a:ext cx="528600" cy="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3125" y="2580575"/>
            <a:ext cx="528600" cy="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8275" y="2249625"/>
            <a:ext cx="1072300" cy="9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218D45-1404-4295-A688-66DFFC3DA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690" y="2271606"/>
            <a:ext cx="786452" cy="7864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1F105D-2A08-4E1B-9D98-DE9ECE5EF8E8}"/>
              </a:ext>
            </a:extLst>
          </p:cNvPr>
          <p:cNvSpPr/>
          <p:nvPr/>
        </p:nvSpPr>
        <p:spPr>
          <a:xfrm>
            <a:off x="4376142" y="389144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IN" sz="1800" dirty="0">
                <a:solidFill>
                  <a:schemeClr val="bg1"/>
                </a:solidFill>
                <a:latin typeface="Lato" panose="020B0604020202020204" charset="0"/>
              </a:rPr>
              <a:t>The adversaries have now the access to the cloud service as well.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1297500" y="317550"/>
            <a:ext cx="7038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: Local Encryption</a:t>
            </a:r>
            <a:endParaRPr/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1" y="3667146"/>
            <a:ext cx="1795675" cy="10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0"/>
          <p:cNvCxnSpPr/>
          <p:nvPr/>
        </p:nvCxnSpPr>
        <p:spPr>
          <a:xfrm rot="10800000" flipH="1">
            <a:off x="2121900" y="1829850"/>
            <a:ext cx="3363000" cy="148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 flipH="1">
            <a:off x="2484675" y="2132075"/>
            <a:ext cx="3303600" cy="143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10" name="Google Shape;2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50" y="1171500"/>
            <a:ext cx="2984600" cy="12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9733" y="3891133"/>
            <a:ext cx="646950" cy="64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000" y="3037775"/>
            <a:ext cx="528600" cy="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8275" y="2249625"/>
            <a:ext cx="1072300" cy="9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4431325" y="3788375"/>
            <a:ext cx="4184100" cy="10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is now secure</a:t>
            </a:r>
            <a:endParaRPr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But cloud can’t do any modifications</a:t>
            </a:r>
            <a:endParaRPr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</a:pPr>
            <a:r>
              <a:rPr lang="en-GB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 have to pull it to our local system, to perform analysis on it.</a:t>
            </a:r>
            <a:endParaRPr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F6DD30-41C3-482D-A9FF-E28AF4F7A4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9690" y="2271606"/>
            <a:ext cx="786452" cy="786452"/>
          </a:xfrm>
          <a:prstGeom prst="rect">
            <a:avLst/>
          </a:prstGeom>
        </p:spPr>
      </p:pic>
      <p:pic>
        <p:nvPicPr>
          <p:cNvPr id="12" name="Google Shape;200;p19">
            <a:extLst>
              <a:ext uri="{FF2B5EF4-FFF2-40B4-BE49-F238E27FC236}">
                <a16:creationId xmlns:a16="http://schemas.microsoft.com/office/drawing/2014/main" id="{F8DF51AE-DD46-4062-A81E-500B532CF8D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83125" y="2580575"/>
            <a:ext cx="528600" cy="5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66458 -0.235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29" y="-117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Data</a:t>
            </a:r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1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sz="1800" dirty="0"/>
              <a:t>Download the data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sz="1800" dirty="0"/>
              <a:t>Decrypt the file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sz="1800" dirty="0"/>
              <a:t>Modify the file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sz="1800" dirty="0"/>
              <a:t>Re -encrypt the file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GB" sz="1800" dirty="0"/>
              <a:t>Upload the file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we want ...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Encrypted data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Can be read only by us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Can be modified by Cloud server</a:t>
            </a:r>
            <a:endParaRPr sz="1800" dirty="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800" dirty="0"/>
              <a:t>Confidentiality &amp; availability is imperative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Homomorphism ...</a:t>
            </a:r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body" idx="1"/>
          </p:nvPr>
        </p:nvSpPr>
        <p:spPr>
          <a:xfrm>
            <a:off x="1297500" y="1116150"/>
            <a:ext cx="3204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Pick a DOMAIN and OPERATION :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/>
              <a:t>Define a FUNCTION : 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/>
              <a:t>Check :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 dirty="0"/>
              <a:t>F (X * Y) = F( X ) * F( Y )</a:t>
            </a:r>
            <a:endParaRPr sz="1800" dirty="0"/>
          </a:p>
        </p:txBody>
      </p:sp>
      <p:sp>
        <p:nvSpPr>
          <p:cNvPr id="233" name="Google Shape;233;p23"/>
          <p:cNvSpPr txBox="1"/>
          <p:nvPr/>
        </p:nvSpPr>
        <p:spPr>
          <a:xfrm>
            <a:off x="4668725" y="1116150"/>
            <a:ext cx="4107900" cy="3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( R, * )</a:t>
            </a: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F ( X ) = | X |</a:t>
            </a: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FFFF"/>
                </a:solidFill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| X * Y | = | X | * | Y |</a:t>
            </a: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Examples</a:t>
            </a:r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( R, * ) : F( X ) = 3X</a:t>
            </a:r>
            <a:r>
              <a:rPr lang="en-GB" sz="1800" baseline="30000" dirty="0"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2</a:t>
            </a:r>
            <a:endParaRPr sz="1800" dirty="0"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( Z, + ) : F( X ) = 3X</a:t>
            </a:r>
            <a:endParaRPr sz="1800" dirty="0"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/>
              <a:t>Interesting one ...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 dirty="0">
                <a:latin typeface="Consolas" panose="020B0609020204030204" pitchFamily="49" charset="0"/>
                <a:ea typeface="Roboto Mono Medium"/>
                <a:cs typeface="Consolas" panose="020B0609020204030204" pitchFamily="49" charset="0"/>
                <a:sym typeface="Roboto Mono Medium"/>
              </a:rPr>
              <a:t>( Z mod P, + ) : F( X ) = X + P</a:t>
            </a:r>
            <a:endParaRPr sz="1800" dirty="0">
              <a:latin typeface="Consolas" panose="020B0609020204030204" pitchFamily="49" charset="0"/>
              <a:ea typeface="Roboto Mono Medium"/>
              <a:cs typeface="Consolas" panose="020B0609020204030204" pitchFamily="49" charset="0"/>
              <a:sym typeface="Roboto Mon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Intuition</a:t>
            </a:r>
            <a:endParaRPr/>
          </a:p>
        </p:txBody>
      </p:sp>
      <p:sp>
        <p:nvSpPr>
          <p:cNvPr id="245" name="Google Shape;245;p25"/>
          <p:cNvSpPr txBox="1">
            <a:spLocks noGrp="1"/>
          </p:cNvSpPr>
          <p:nvPr>
            <p:ph type="body" idx="1"/>
          </p:nvPr>
        </p:nvSpPr>
        <p:spPr>
          <a:xfrm>
            <a:off x="1238275" y="1307850"/>
            <a:ext cx="7038900" cy="34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We want to encrypt one bit at a time.</a:t>
            </a:r>
            <a:endParaRPr sz="1800"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We want E( KEY, data ) to be HOMOMORPHIC :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(Z mod 2, </a:t>
            </a:r>
            <a:r>
              <a:rPr lang="en-GB" sz="1800" dirty="0">
                <a:solidFill>
                  <a:srgbClr val="FFFF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+</a:t>
            </a: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) and (Z mod 2,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*</a:t>
            </a: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)</a:t>
            </a:r>
            <a:endParaRPr sz="1800" dirty="0"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E( key, D1 </a:t>
            </a:r>
            <a:r>
              <a:rPr lang="en-GB" sz="1800" dirty="0">
                <a:solidFill>
                  <a:srgbClr val="FFFF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+</a:t>
            </a: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D2 ) = E( key,  D1 ) </a:t>
            </a:r>
            <a:r>
              <a:rPr lang="en-GB" sz="1800" dirty="0">
                <a:solidFill>
                  <a:srgbClr val="FFFF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+</a:t>
            </a: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E( key, D2 )</a:t>
            </a:r>
            <a:endParaRPr sz="1800" dirty="0"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E( key, D1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*</a:t>
            </a: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D2 ) = E( key,  D1 )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*</a:t>
            </a:r>
            <a:r>
              <a:rPr lang="en-GB" sz="1800" dirty="0"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E( key, D2 )</a:t>
            </a:r>
            <a:endParaRPr sz="1800" dirty="0"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have ?</a:t>
            </a:r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 err="1"/>
              <a:t>KeyGen</a:t>
            </a:r>
            <a:r>
              <a:rPr lang="en-GB" sz="1800" dirty="0"/>
              <a:t>()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Encrypt( key, m)  - Homomorphic</a:t>
            </a:r>
            <a:endParaRPr sz="1800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/>
              <a:t>Decrypt (key, c)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 i="1" dirty="0"/>
              <a:t>So what ? ...</a:t>
            </a:r>
            <a:endParaRPr sz="18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20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An </a:t>
            </a:r>
            <a:r>
              <a:rPr lang="en-GB" i="1" dirty="0"/>
              <a:t>Interesting</a:t>
            </a:r>
            <a:r>
              <a:rPr lang="en-GB" dirty="0"/>
              <a:t> equation</a:t>
            </a:r>
            <a:endParaRPr dirty="0"/>
          </a:p>
        </p:txBody>
      </p:sp>
      <p:sp>
        <p:nvSpPr>
          <p:cNvPr id="257" name="Google Shape;257;p27"/>
          <p:cNvSpPr txBox="1">
            <a:spLocks noGrp="1"/>
          </p:cNvSpPr>
          <p:nvPr>
            <p:ph type="body" idx="1"/>
          </p:nvPr>
        </p:nvSpPr>
        <p:spPr>
          <a:xfrm>
            <a:off x="936917" y="961350"/>
            <a:ext cx="5112819" cy="37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	1 + A * B</a:t>
            </a: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/>
              <a:t>	Since E is homomorphic…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E ( key, 1 </a:t>
            </a:r>
            <a:r>
              <a:rPr lang="en-GB" sz="1800" dirty="0">
                <a:solidFill>
                  <a:srgbClr val="FFFF00"/>
                </a:solidFill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+</a:t>
            </a:r>
            <a:r>
              <a:rPr lang="en-GB" sz="1800" dirty="0"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A </a:t>
            </a:r>
            <a:r>
              <a:rPr lang="en-GB" sz="1800" dirty="0">
                <a:solidFill>
                  <a:srgbClr val="FF0000"/>
                </a:solidFill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*</a:t>
            </a:r>
            <a:r>
              <a:rPr lang="en-GB" sz="1800" dirty="0"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B) = </a:t>
            </a:r>
            <a:endParaRPr sz="1800" dirty="0">
              <a:highlight>
                <a:srgbClr val="000000"/>
              </a:highlight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 dirty="0"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E( key, 1 ) </a:t>
            </a:r>
            <a:r>
              <a:rPr lang="en-GB" sz="1800" dirty="0">
                <a:solidFill>
                  <a:srgbClr val="FFFF00"/>
                </a:solidFill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+</a:t>
            </a:r>
            <a:r>
              <a:rPr lang="en-GB" sz="1800" dirty="0"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E( key, A ) </a:t>
            </a:r>
            <a:r>
              <a:rPr lang="en-GB" sz="1800" dirty="0">
                <a:solidFill>
                  <a:srgbClr val="FF0000"/>
                </a:solidFill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*</a:t>
            </a:r>
            <a:r>
              <a:rPr lang="en-GB" sz="1800" dirty="0">
                <a:highlight>
                  <a:srgbClr val="000000"/>
                </a:highlight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 E( key, B)</a:t>
            </a:r>
            <a:endParaRPr sz="1800" dirty="0">
              <a:highlight>
                <a:srgbClr val="000000"/>
              </a:highlight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 dirty="0">
              <a:highlight>
                <a:srgbClr val="000000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400" dirty="0"/>
              <a:t>We have </a:t>
            </a:r>
            <a:r>
              <a:rPr lang="en-GB" sz="2400" b="1" u="sng" dirty="0"/>
              <a:t>NAND</a:t>
            </a:r>
            <a:r>
              <a:rPr lang="en-GB" sz="2400" dirty="0"/>
              <a:t> gate !!</a:t>
            </a:r>
            <a:endParaRPr sz="2400" dirty="0"/>
          </a:p>
        </p:txBody>
      </p:sp>
      <p:sp>
        <p:nvSpPr>
          <p:cNvPr id="258" name="Google Shape;258;p27"/>
          <p:cNvSpPr txBox="1"/>
          <p:nvPr/>
        </p:nvSpPr>
        <p:spPr>
          <a:xfrm>
            <a:off x="6049736" y="679500"/>
            <a:ext cx="2775857" cy="270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A	B	1</a:t>
            </a:r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+</a:t>
            </a: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A</a:t>
            </a:r>
            <a:r>
              <a:rPr lang="en-IN" sz="1800" dirty="0">
                <a:solidFill>
                  <a:srgbClr val="FF0000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*</a:t>
            </a: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B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FFFFFF"/>
              </a:solidFill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0	0	 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FFFFFF"/>
              </a:solidFill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0	1	 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FFFFFF"/>
              </a:solidFill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1	0	 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rgbClr val="FFFFFF"/>
              </a:solidFill>
              <a:latin typeface="Consolas" panose="020B0609020204030204" pitchFamily="49" charset="0"/>
              <a:ea typeface="Roboto Mono"/>
              <a:cs typeface="Consolas" panose="020B0609020204030204" pitchFamily="49" charset="0"/>
              <a:sym typeface="Roboto Mono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FFFFFF"/>
                </a:solidFill>
                <a:latin typeface="Consolas" panose="020B0609020204030204" pitchFamily="49" charset="0"/>
                <a:ea typeface="Roboto Mono"/>
                <a:cs typeface="Consolas" panose="020B0609020204030204" pitchFamily="49" charset="0"/>
                <a:sym typeface="Roboto Mono"/>
              </a:rPr>
              <a:t>1	1	 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NAND to the rescue</a:t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9750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8975" y="1239750"/>
            <a:ext cx="25812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9475" y="1301663"/>
            <a:ext cx="281940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/>
        </p:nvSpPr>
        <p:spPr>
          <a:xfrm>
            <a:off x="227075" y="3317125"/>
            <a:ext cx="25446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Normal Code Logic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3247313" y="3317125"/>
            <a:ext cx="25446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Machine Code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6323075" y="3240925"/>
            <a:ext cx="25446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NAND Logic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0" name="Google Shape;270;p28"/>
          <p:cNvCxnSpPr>
            <a:stCxn id="267" idx="3"/>
            <a:endCxn id="268" idx="1"/>
          </p:cNvCxnSpPr>
          <p:nvPr/>
        </p:nvCxnSpPr>
        <p:spPr>
          <a:xfrm>
            <a:off x="2771675" y="3608275"/>
            <a:ext cx="4755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28"/>
          <p:cNvCxnSpPr>
            <a:stCxn id="268" idx="3"/>
          </p:cNvCxnSpPr>
          <p:nvPr/>
        </p:nvCxnSpPr>
        <p:spPr>
          <a:xfrm>
            <a:off x="5791913" y="3608275"/>
            <a:ext cx="802800" cy="15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>
            <a:spLocks noGrp="1"/>
          </p:cNvSpPr>
          <p:nvPr>
            <p:ph type="title"/>
          </p:nvPr>
        </p:nvSpPr>
        <p:spPr>
          <a:xfrm>
            <a:off x="1297500" y="317550"/>
            <a:ext cx="7038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Encryption</a:t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371" y="3667146"/>
            <a:ext cx="1795675" cy="109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29"/>
          <p:cNvCxnSpPr/>
          <p:nvPr/>
        </p:nvCxnSpPr>
        <p:spPr>
          <a:xfrm rot="10800000" flipH="1">
            <a:off x="2121900" y="1829850"/>
            <a:ext cx="3363000" cy="148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Google Shape;279;p29"/>
          <p:cNvCxnSpPr/>
          <p:nvPr/>
        </p:nvCxnSpPr>
        <p:spPr>
          <a:xfrm flipH="1">
            <a:off x="2484675" y="2132075"/>
            <a:ext cx="3303600" cy="143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80" name="Google Shape;2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8650" y="1171500"/>
            <a:ext cx="2984600" cy="12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00" y="3037775"/>
            <a:ext cx="528600" cy="5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8275" y="2249625"/>
            <a:ext cx="1072300" cy="9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/>
        </p:nvSpPr>
        <p:spPr>
          <a:xfrm>
            <a:off x="385025" y="2053450"/>
            <a:ext cx="39192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F(X) = Evaluate(key, function)</a:t>
            </a:r>
            <a:endParaRPr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5EB4F4-27BA-43ED-A7EB-8D9602BFCDAD}"/>
              </a:ext>
            </a:extLst>
          </p:cNvPr>
          <p:cNvGrpSpPr/>
          <p:nvPr/>
        </p:nvGrpSpPr>
        <p:grpSpPr>
          <a:xfrm>
            <a:off x="588820" y="3891133"/>
            <a:ext cx="1528775" cy="646950"/>
            <a:chOff x="7256175" y="2571750"/>
            <a:chExt cx="1528775" cy="646950"/>
          </a:xfrm>
        </p:grpSpPr>
        <p:pic>
          <p:nvPicPr>
            <p:cNvPr id="281" name="Google Shape;281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138000" y="2571750"/>
              <a:ext cx="646950" cy="646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9"/>
            <p:cNvSpPr txBox="1"/>
            <p:nvPr/>
          </p:nvSpPr>
          <p:spPr>
            <a:xfrm>
              <a:off x="7256175" y="2690100"/>
              <a:ext cx="57845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f(x)</a:t>
              </a:r>
              <a:endParaRPr sz="18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3" name="Google Shape;282;p29">
            <a:extLst>
              <a:ext uri="{FF2B5EF4-FFF2-40B4-BE49-F238E27FC236}">
                <a16:creationId xmlns:a16="http://schemas.microsoft.com/office/drawing/2014/main" id="{AD8AB108-F8A4-453D-ADFF-1B73C988213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0375" y="2584925"/>
            <a:ext cx="528600" cy="5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66961 -0.1163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472" y="-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1191992" y="173943"/>
            <a:ext cx="70389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Cloud: Machine Learning as a Service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4DA72-5B03-4C6A-B617-34F075869643}"/>
              </a:ext>
            </a:extLst>
          </p:cNvPr>
          <p:cNvSpPr txBox="1"/>
          <p:nvPr/>
        </p:nvSpPr>
        <p:spPr>
          <a:xfrm>
            <a:off x="1046285" y="722240"/>
            <a:ext cx="77548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Consider a hospital that would like to use a cloud service to improve the quality of care and to reduce costs.</a:t>
            </a:r>
          </a:p>
          <a:p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Due to ethical and legal requirements regarding the confidentiality of patient information, the hospital might be prohibited from using such a service</a:t>
            </a:r>
          </a:p>
          <a:p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We need a way by which the hospital can use this valuable service without sacrificing patient privacy</a:t>
            </a:r>
          </a:p>
          <a:p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In the proposed protocol, the hospital encrypts the private information and sends it in encrypted form to cloud.</a:t>
            </a:r>
          </a:p>
          <a:p>
            <a:endParaRPr lang="en-US" sz="1800" dirty="0">
              <a:solidFill>
                <a:schemeClr val="bg1"/>
              </a:solidFill>
              <a:latin typeface="Lato" panose="020B060402020202020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B0604020202020204" charset="0"/>
              </a:rPr>
              <a:t>The cloud is able to compute the prediction over the encrypted data records and sends back the results that the hospital can decrypt and read</a:t>
            </a:r>
            <a:endParaRPr lang="en-IN" sz="1800" dirty="0">
              <a:solidFill>
                <a:schemeClr val="bg1"/>
              </a:solidFill>
              <a:latin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150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1191992" y="173943"/>
            <a:ext cx="70389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Literature Survey: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86C208-8DB2-B542-AF23-2AF725FD9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857880"/>
              </p:ext>
            </p:extLst>
          </p:nvPr>
        </p:nvGraphicFramePr>
        <p:xfrm>
          <a:off x="1304544" y="755903"/>
          <a:ext cx="7656574" cy="4299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032">
                  <a:extLst>
                    <a:ext uri="{9D8B030D-6E8A-4147-A177-3AD203B41FA5}">
                      <a16:colId xmlns:a16="http://schemas.microsoft.com/office/drawing/2014/main" val="3720390255"/>
                    </a:ext>
                  </a:extLst>
                </a:gridCol>
                <a:gridCol w="2613032">
                  <a:extLst>
                    <a:ext uri="{9D8B030D-6E8A-4147-A177-3AD203B41FA5}">
                      <a16:colId xmlns:a16="http://schemas.microsoft.com/office/drawing/2014/main" val="3499896782"/>
                    </a:ext>
                  </a:extLst>
                </a:gridCol>
                <a:gridCol w="2430510">
                  <a:extLst>
                    <a:ext uri="{9D8B030D-6E8A-4147-A177-3AD203B41FA5}">
                      <a16:colId xmlns:a16="http://schemas.microsoft.com/office/drawing/2014/main" val="2905722126"/>
                    </a:ext>
                  </a:extLst>
                </a:gridCol>
              </a:tblGrid>
              <a:tr h="6771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Objectives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875972"/>
                  </a:ext>
                </a:extLst>
              </a:tr>
              <a:tr h="1178820"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Secure Cloud Computing through Homomorphic Encryption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 err="1"/>
                        <a:t>Maha</a:t>
                      </a:r>
                      <a:r>
                        <a:rPr lang="en-IN" sz="1100" dirty="0"/>
                        <a:t> TEBAA, Said EL HAJII 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Analyses application of different </a:t>
                      </a:r>
                      <a:r>
                        <a:rPr lang="en-IN" sz="1100" dirty="0" err="1"/>
                        <a:t>H.E.cryptosystems</a:t>
                      </a:r>
                      <a:r>
                        <a:rPr lang="en-IN" sz="1100" dirty="0"/>
                        <a:t> (RSA, </a:t>
                      </a:r>
                      <a:r>
                        <a:rPr lang="en-IN" sz="1100" dirty="0" err="1"/>
                        <a:t>Paillier</a:t>
                      </a:r>
                      <a:r>
                        <a:rPr lang="en-IN" sz="1100" dirty="0"/>
                        <a:t>, El Gamal, Goldwasser-</a:t>
                      </a:r>
                      <a:r>
                        <a:rPr lang="en-IN" sz="1100" dirty="0" err="1"/>
                        <a:t>Micali,etc</a:t>
                      </a:r>
                      <a:r>
                        <a:rPr lang="en-IN" sz="1100" dirty="0"/>
                        <a:t>. </a:t>
                      </a:r>
                    </a:p>
                    <a:p>
                      <a:r>
                        <a:rPr lang="en-IN" sz="1100" dirty="0"/>
                        <a:t>Comparison based on four characteristics;  Encryption type, Privacy, Security applied and keys used.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480175"/>
                  </a:ext>
                </a:extLst>
              </a:tr>
              <a:tr h="1178820">
                <a:tc>
                  <a:txBody>
                    <a:bodyPr/>
                    <a:lstStyle/>
                    <a:p>
                      <a:r>
                        <a:rPr lang="en-IN" sz="1100" dirty="0"/>
                        <a:t>Security Issues in Cloud Computing: The Potentials of Homomorphic Encryption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 err="1"/>
                        <a:t>Aderemi</a:t>
                      </a:r>
                      <a:r>
                        <a:rPr lang="en-IN" sz="1100" dirty="0"/>
                        <a:t> A. </a:t>
                      </a:r>
                      <a:r>
                        <a:rPr lang="en-IN" sz="1100" dirty="0" err="1"/>
                        <a:t>Atayero</a:t>
                      </a:r>
                      <a:r>
                        <a:rPr lang="en-IN" sz="1100" dirty="0"/>
                        <a:t> , </a:t>
                      </a:r>
                      <a:r>
                        <a:rPr lang="en-IN" sz="1100" dirty="0" err="1"/>
                        <a:t>Oluwaseyi</a:t>
                      </a:r>
                      <a:r>
                        <a:rPr lang="en-IN" sz="1100" dirty="0"/>
                        <a:t> </a:t>
                      </a:r>
                      <a:r>
                        <a:rPr lang="en-IN" sz="1100" dirty="0" err="1"/>
                        <a:t>Feyisetan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How to maintain semantic security in cloud?</a:t>
                      </a:r>
                    </a:p>
                    <a:p>
                      <a:r>
                        <a:rPr lang="en-US" sz="1100" dirty="0"/>
                        <a:t>Decrease cloud resource consumption terms of time and memory.</a:t>
                      </a:r>
                    </a:p>
                    <a:p>
                      <a:r>
                        <a:rPr lang="en-US" sz="1100" dirty="0"/>
                        <a:t>Indexing of encrypted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756436"/>
                  </a:ext>
                </a:extLst>
              </a:tr>
              <a:tr h="1178820">
                <a:tc>
                  <a:txBody>
                    <a:bodyPr/>
                    <a:lstStyle/>
                    <a:p>
                      <a:r>
                        <a:rPr lang="en-IN" sz="1100" dirty="0"/>
                        <a:t>Privacy preserving Neural Network Inference on Encrypted Data with GPUs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Daniel </a:t>
                      </a:r>
                      <a:r>
                        <a:rPr lang="en-IN" sz="1100" dirty="0" err="1"/>
                        <a:t>Takabi</a:t>
                      </a:r>
                      <a:r>
                        <a:rPr lang="en-IN" sz="1100" dirty="0"/>
                        <a:t>, Robert </a:t>
                      </a:r>
                      <a:r>
                        <a:rPr lang="en-IN" sz="1100" dirty="0" err="1"/>
                        <a:t>Podschwadt</a:t>
                      </a:r>
                      <a:r>
                        <a:rPr lang="en-IN" sz="1100" dirty="0"/>
                        <a:t>, Jeff </a:t>
                      </a:r>
                      <a:r>
                        <a:rPr lang="en-IN" sz="1100" dirty="0" err="1"/>
                        <a:t>Druce</a:t>
                      </a:r>
                      <a:r>
                        <a:rPr lang="en-IN" sz="1100" dirty="0"/>
                        <a:t>, Curt Wu, Kevin Procopio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Demonstration of </a:t>
                      </a:r>
                      <a:r>
                        <a:rPr lang="en-IN" sz="1100" dirty="0"/>
                        <a:t>FHE-compatible CNN that is able to classify the homomorphically encrypted images.</a:t>
                      </a:r>
                    </a:p>
                    <a:p>
                      <a:r>
                        <a:rPr lang="en-IN" sz="1100" dirty="0"/>
                        <a:t>FHE can be significantly accelerated with </a:t>
                      </a:r>
                      <a:r>
                        <a:rPr lang="en-IN" sz="1100" dirty="0" err="1"/>
                        <a:t>GPUsFHE</a:t>
                      </a:r>
                      <a:r>
                        <a:rPr lang="en-IN" sz="1100" dirty="0"/>
                        <a:t> can be significantly accelerated with GPUs 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44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753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1191992" y="173943"/>
            <a:ext cx="70389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Literature Survey: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86C208-8DB2-B542-AF23-2AF725FD9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135518"/>
              </p:ext>
            </p:extLst>
          </p:nvPr>
        </p:nvGraphicFramePr>
        <p:xfrm>
          <a:off x="1304544" y="755903"/>
          <a:ext cx="7656574" cy="4213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032">
                  <a:extLst>
                    <a:ext uri="{9D8B030D-6E8A-4147-A177-3AD203B41FA5}">
                      <a16:colId xmlns:a16="http://schemas.microsoft.com/office/drawing/2014/main" val="3720390255"/>
                    </a:ext>
                  </a:extLst>
                </a:gridCol>
                <a:gridCol w="2613032">
                  <a:extLst>
                    <a:ext uri="{9D8B030D-6E8A-4147-A177-3AD203B41FA5}">
                      <a16:colId xmlns:a16="http://schemas.microsoft.com/office/drawing/2014/main" val="3499896782"/>
                    </a:ext>
                  </a:extLst>
                </a:gridCol>
                <a:gridCol w="2430510">
                  <a:extLst>
                    <a:ext uri="{9D8B030D-6E8A-4147-A177-3AD203B41FA5}">
                      <a16:colId xmlns:a16="http://schemas.microsoft.com/office/drawing/2014/main" val="2905722126"/>
                    </a:ext>
                  </a:extLst>
                </a:gridCol>
              </a:tblGrid>
              <a:tr h="6771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Objectives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875972"/>
                  </a:ext>
                </a:extLst>
              </a:tr>
              <a:tr h="1178820">
                <a:tc>
                  <a:txBody>
                    <a:bodyPr/>
                    <a:lstStyle/>
                    <a:p>
                      <a:pPr algn="l"/>
                      <a:r>
                        <a:rPr lang="en-IN" sz="1100" dirty="0" err="1"/>
                        <a:t>CryptoNets</a:t>
                      </a:r>
                      <a:r>
                        <a:rPr lang="en-IN" sz="1100" dirty="0"/>
                        <a:t>: Applying Neural Networks to Encrypted Data with High Throughput and Accuracy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dirty="0"/>
                        <a:t>Nathan </a:t>
                      </a:r>
                      <a:r>
                        <a:rPr lang="en-IN" sz="1100" dirty="0" err="1"/>
                        <a:t>Dowlin</a:t>
                      </a:r>
                      <a:r>
                        <a:rPr lang="en-IN" sz="1100" dirty="0"/>
                        <a:t>, Ran Gilad-Bachrach, Kim Laine , Kristin </a:t>
                      </a:r>
                      <a:r>
                        <a:rPr lang="en-IN" sz="1100" dirty="0" err="1"/>
                        <a:t>Lauter</a:t>
                      </a:r>
                      <a:r>
                        <a:rPr lang="en-IN" sz="1100" dirty="0"/>
                        <a:t> , Michael </a:t>
                      </a:r>
                      <a:r>
                        <a:rPr lang="en-IN" sz="1100" dirty="0" err="1"/>
                        <a:t>Naehrig</a:t>
                      </a:r>
                      <a:r>
                        <a:rPr lang="en-IN" sz="1100" dirty="0"/>
                        <a:t> , and John </a:t>
                      </a:r>
                      <a:r>
                        <a:rPr lang="en-IN" sz="1100" dirty="0" err="1"/>
                        <a:t>Wernsing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Neural networks that can be applied to encrypted data.</a:t>
                      </a:r>
                    </a:p>
                    <a:p>
                      <a:r>
                        <a:rPr lang="en-IN" sz="1100" dirty="0"/>
                        <a:t>Cryptographic Neural Nets on the MNIST optical character recognition tasks.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480175"/>
                  </a:ext>
                </a:extLst>
              </a:tr>
              <a:tr h="1178820">
                <a:tc>
                  <a:txBody>
                    <a:bodyPr/>
                    <a:lstStyle/>
                    <a:p>
                      <a:r>
                        <a:rPr lang="en-IN" sz="1100" dirty="0"/>
                        <a:t>Unsupervised Machine Learning on Encrypted Data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Angela </a:t>
                      </a:r>
                      <a:r>
                        <a:rPr lang="en-IN" sz="1100" dirty="0" err="1"/>
                        <a:t>Jaschke</a:t>
                      </a:r>
                      <a:r>
                        <a:rPr lang="en-IN" sz="1100" dirty="0"/>
                        <a:t> and Frederik </a:t>
                      </a:r>
                      <a:r>
                        <a:rPr lang="en-IN" sz="1100" dirty="0" err="1"/>
                        <a:t>Armknecht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K-Means-Algorithm, in the FHE context.</a:t>
                      </a:r>
                    </a:p>
                    <a:p>
                      <a:r>
                        <a:rPr lang="en-IN" sz="1100" dirty="0"/>
                        <a:t>Using a natural encoding of data that allows division operation.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756436"/>
                  </a:ext>
                </a:extLst>
              </a:tr>
              <a:tr h="1178820">
                <a:tc>
                  <a:txBody>
                    <a:bodyPr/>
                    <a:lstStyle/>
                    <a:p>
                      <a:r>
                        <a:rPr lang="en-IN" sz="1100" dirty="0"/>
                        <a:t>Efficient Cloud-based Secret Shuffling via Homomorphic Encryption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Kilian Becher, Thorsten </a:t>
                      </a:r>
                      <a:r>
                        <a:rPr lang="en-IN" sz="1100" dirty="0" err="1"/>
                        <a:t>Strufe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Tackling c</a:t>
                      </a:r>
                      <a:r>
                        <a:rPr lang="en-IN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loud-based multi-party computation scenarios such as that of the ownership relation between data providers and their inputs.</a:t>
                      </a:r>
                    </a:p>
                    <a:p>
                      <a:r>
                        <a:rPr lang="en-IN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Presents a </a:t>
                      </a:r>
                      <a:r>
                        <a:rPr lang="en-IN" sz="1100" dirty="0"/>
                        <a:t>multi-party protocol for shuffling encrypted data.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44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493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1052550" y="1639017"/>
            <a:ext cx="7038900" cy="18654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397869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1038</Words>
  <Application>Microsoft Macintosh PowerPoint</Application>
  <PresentationFormat>On-screen Show (16:9)</PresentationFormat>
  <Paragraphs>163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Lato</vt:lpstr>
      <vt:lpstr>Roboto Mono</vt:lpstr>
      <vt:lpstr>Arial</vt:lpstr>
      <vt:lpstr>Montserrat</vt:lpstr>
      <vt:lpstr>Consolas</vt:lpstr>
      <vt:lpstr>Focus</vt:lpstr>
      <vt:lpstr>MLaaS using Homomorphic Encryption</vt:lpstr>
      <vt:lpstr>Basic Communication</vt:lpstr>
      <vt:lpstr>Threat Model 1</vt:lpstr>
      <vt:lpstr>Solution : Encryption</vt:lpstr>
      <vt:lpstr>TLS</vt:lpstr>
      <vt:lpstr>So now what ...</vt:lpstr>
      <vt:lpstr>Threat Model 2</vt:lpstr>
      <vt:lpstr>Solution : Local Encryption</vt:lpstr>
      <vt:lpstr>Using the Data</vt:lpstr>
      <vt:lpstr>What do we want ...</vt:lpstr>
      <vt:lpstr>Homomorphism ...</vt:lpstr>
      <vt:lpstr>Some Examples</vt:lpstr>
      <vt:lpstr>Intuition</vt:lpstr>
      <vt:lpstr>What we have ?</vt:lpstr>
      <vt:lpstr> An Interesting equation</vt:lpstr>
      <vt:lpstr>NAND to the rescue</vt:lpstr>
      <vt:lpstr>Final Encryption</vt:lpstr>
      <vt:lpstr>Cloud: Machine Learning as a Service</vt:lpstr>
      <vt:lpstr>Literature Survey:</vt:lpstr>
      <vt:lpstr>Literature Survey: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Homomorphic Encryption</dc:title>
  <cp:lastModifiedBy>Arora, Dost</cp:lastModifiedBy>
  <cp:revision>24</cp:revision>
  <dcterms:modified xsi:type="dcterms:W3CDTF">2020-03-20T03:19:58Z</dcterms:modified>
</cp:coreProperties>
</file>